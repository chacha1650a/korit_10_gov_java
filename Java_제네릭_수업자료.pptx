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Java 제네릭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Generics — 타입 안전성과 코드 재사용의 핵심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18288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490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3749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어떤 타입이든 담을 수 있는 안전한 상자를 만들자!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914400"/>
            <a:ext cx="54864" cy="47548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987552"/>
            <a:ext cx="329184" cy="329184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54480" y="950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제네릭이 필요한가?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11704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사용의 문제점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4630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463040"/>
            <a:ext cx="54864" cy="475488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1536192"/>
            <a:ext cx="329184" cy="32918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15361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54480" y="14996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 클래스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17190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&lt;T&gt;로 타입을 파라미터화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01168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011680"/>
            <a:ext cx="54864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2084832"/>
            <a:ext cx="329184" cy="329184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0848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54480" y="204825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 메서드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226771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단위 타입 파라미터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256032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2560320"/>
            <a:ext cx="54864" cy="475488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5840" y="26334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2633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54480" y="259689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파라미터 관례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54480" y="281635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T, E, K, V, N, ? 의 의미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310896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108960"/>
            <a:ext cx="54864" cy="47548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5840" y="3182112"/>
            <a:ext cx="329184" cy="329184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5840" y="31821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554480" y="314553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타입 파라미터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54480" y="336499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extends로 타입 범위 제한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1520" y="365760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1520" y="3657600"/>
            <a:ext cx="54864" cy="47548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5" name="Shape 33"/>
          <p:cNvSpPr/>
          <p:nvPr/>
        </p:nvSpPr>
        <p:spPr>
          <a:xfrm>
            <a:off x="1005840" y="3730752"/>
            <a:ext cx="329184" cy="32918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3730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554480" y="36941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와일드카드 (?)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554480" y="391363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 extends T&gt; · &lt;? super T&gt;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31520" y="4206240"/>
            <a:ext cx="7680960" cy="4754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31520" y="4206240"/>
            <a:ext cx="54864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1" name="Shape 39"/>
          <p:cNvSpPr/>
          <p:nvPr/>
        </p:nvSpPr>
        <p:spPr>
          <a:xfrm>
            <a:off x="1005840" y="4279392"/>
            <a:ext cx="329184" cy="32918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42" name="Text 40"/>
          <p:cNvSpPr/>
          <p:nvPr/>
        </p:nvSpPr>
        <p:spPr>
          <a:xfrm>
            <a:off x="1005840" y="4279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554480" y="4242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제네릭과 컬렉션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1554480" y="4462272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List&lt;T&gt;, Map&lt;K,V&gt; 실전 활용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제네릭이 필요한가?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1051560"/>
            <a:ext cx="3749040" cy="2743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051560"/>
            <a:ext cx="374904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사용 — 문제 발생!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338328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554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item;  // 뭐든 담을 수 있음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set(Object i) { item = i;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Object get() { return item;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 b = new Box();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b.set("Hello");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꺼낼 때 강제 캐스팅 필수!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(String) b.get();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b.set(123); // 정수도 넣을 수 있음!</a:t>
            </a: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x = (String)b.get(); //런타임 오류!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51560"/>
            <a:ext cx="3749040" cy="2743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4663440" y="1051560"/>
            <a:ext cx="374904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 사용 — 안전!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508760"/>
            <a:ext cx="3383280" cy="20116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554480"/>
            <a:ext cx="30175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Box</a:t>
            </a:r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item;  // T = 타입 파라미터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void set(T i) { item = i;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get() { return item;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Box&lt;String&gt; b = new Box&lt;&gt;();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b.set("Hello");  // String만 가능!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s = b.get(); // 캐스팅 불필요!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b.set(123); // 컴파일 오류! (안전!)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9144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690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제네릭의 핵심 가치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컴파일 시 타입 검사 (런타임 오류 방지)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강제 캐스팅 제거 (코드 간결) </a:t>
            </a:r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코드 재사용 (하나의 클래스로 여러 타입 처리)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제네릭 클래스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768096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</a:t>
            </a:r>
            <a:pPr algn="ctr" indent="0" marL="0">
              <a:buNone/>
            </a:pPr>
            <a:r>
              <a:rPr lang="en-US" sz="18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클래스명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{ T 필드; T 메서드(); }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768096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6002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예제: Pair&lt;K, V&gt; — 두 개의 타입 파라미터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Pair&lt;K, V&gt;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K key;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V value;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Pair(K key, V value) { this.key = key; this.value = value;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K getKey()   { return key; }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getValue() { return value;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사용 시 타입 지정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Pair&lt;String, Integer&gt; p = new Pair&lt;&gt;("나이", 25);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k = p.getKey();    // "나이" (캐스팅 불필요)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 = p.getValue();     // 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251960"/>
            <a:ext cx="76809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4251960"/>
            <a:ext cx="64008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429768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다이아몬드 연산자 &lt;&gt; 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7부터 오른쪽 타입 생략 가능!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Pair&lt;String, Integer&gt; p = new Pair&lt;&gt;("나이", 25);  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&lt;&gt; 안이 자동 추론!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제네릭 메서드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메서드 단위로 타입 파라미터를 선언 — 클래스 제네릭과 독립적!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</a:t>
            </a:r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메서드명(T param) { ... }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21945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Util {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제네릭 메서드: 배열의 첫 번째 요소 리턴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&lt;T&gt; T getFirst(T[] arr)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arr[0];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두 값을 비교하는 제네릭 메서드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 &lt;T&gt; boolean isEqual(T a, T b)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a.equals(b);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 = Util.getFirst(new String[]{"A","B","C"});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eq = Util.isEqual("Hello", "Hello"); // true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526280"/>
            <a:ext cx="7680960" cy="45720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45262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&lt;T&gt;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위치가 핵심!  리턴타입 </a:t>
            </a:r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앞에</a:t>
            </a:r>
            <a:pPr indent="0" marL="0">
              <a:buNone/>
            </a:pPr>
            <a:r>
              <a:rPr lang="en-US" sz="12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선언한다.  호출 시 타입은 인자로부터 자동 추론!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타입 파라미터 관례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9184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기호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예시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(일반적인 타입)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Box&lt;T&gt;, List&lt;T&gt;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Element (컬렉션 요소)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List&lt;E&gt;, Set&lt;E&gt;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(키)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Map&lt;K, V&gt;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(값)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Map&lt;K, V&gt;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(숫자)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Calculator&lt;N extends Number&gt;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?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Wildcard (모든 타입)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List&lt;?&gt;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 type (리턴 타입)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Function&lt;T, 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2976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31520" y="4297680"/>
            <a:ext cx="64008" cy="685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4343400"/>
            <a:ext cx="6949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규칙이 아니라 관례!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이름이나 쓸 수 있지만, 위 관례를 따르면 코드 가독성이 크게 향상된다.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대문자 1글자를 사용하는 것이 핵심! (소문자/여러 글자 사용하지 않음)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제한된 타입 파라미터 (Bounded)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 타입이나 다 받으면 위험! extends로 타입 범위를 제한할 수 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768096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 </a:t>
            </a:r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extends</a:t>
            </a:r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Number&gt;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T는 Number 또는 그 하위 클래스만!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768096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Calculator&lt;T extends Number&gt;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num;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Calculator(T num) { this.num = num; 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getDouble()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num.doubleValue();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Number의 메서드 사용 가능!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Calculator&lt;Integer&gt; c1 = new Calculator&lt;&gt;(10);  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Calculator&lt;Double&gt;  c2 = new Calculator&lt;&gt;(3.14); 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Calculator&lt;String&gt;  c3 = new Calculator&lt;&gt;("Hi"); </a:t>
            </a:r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오류! String은 Number가 아님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와일드카드 (?)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60120"/>
          <a:ext cx="7680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와일드카드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의미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사용 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&lt;?&gt;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모든 타입 허용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List&lt;?&gt;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&lt;? extends T&gt;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또는 T의 하위 타입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List&lt;? extends Number&gt;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9731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&lt;? super T&gt;</a:t>
                      </a:r>
                      <a:endParaRPr lang="en-US" sz="14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 또는 T의 상위 타입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List&lt;? super Integer&gt;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2377440"/>
            <a:ext cx="7680960" cy="2560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1005840" y="2423160"/>
            <a:ext cx="7132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&lt;? extends Number&gt;: Number 하위 타입만 허용 (읽기 전용)</a:t>
            </a:r>
            <a:endParaRPr lang="en-US" sz="11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 double sum(List&lt;? extends Number&gt; list) {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total = 0;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(Number n : list) total += n.doubleValue();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total;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List&lt;Integer&gt; ints = List.of(1, 2, 3);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List&lt;Double&gt; doubles = List.of(1.5, 2.5);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sum(ints);      // OK! Integer extends Number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sum(doubles);   // OK! Double extends Number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sum(List.of("A")); // 오류! String은 Number가 아님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548640" cy="54864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463040" y="3657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제네릭과 컬렉션 (미리보기)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컬렉션 프레임워크는 모두 제네릭으로 구현되어 있다!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697480" cy="3017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2697480" cy="54864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List&lt;E&gt;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25146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9202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List&lt;String&gt; names = new ArrayList&lt;&gt;();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names.add("김");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names.add("이");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first = names.get(0); // "김"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697480" cy="3017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337560" y="141732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Map&lt;K, V&gt;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429000" y="1874520"/>
            <a:ext cx="25146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3520440" y="19202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Map&lt;String, Integer&gt; ages = new HashMap&lt;&gt;();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ages.put("김자바", 25);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ages.put("이파이", 30);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age = ages.get("김자바"); // 25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697480" cy="301752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1417320"/>
            <a:ext cx="269748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087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Set&lt;E&gt;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1874520"/>
            <a:ext cx="2514600" cy="2286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920240"/>
            <a:ext cx="2331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Set&lt;Integer&gt; nums = new HashSet&lt;&gt;();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nums.add(1); nums.add(2); nums.add(1);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{1, 2} (중복 제거!)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nums.size(); // 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수업: 컬렉션 프레임워크에서 제네릭을 본격적으로 활용합니다!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요약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777240"/>
            <a:ext cx="137160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98755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875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제네릭?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17957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사용의 캐스팅 위험 제거. 컴파일 시 타입 검사 + 코드 재사용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9961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4996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34440" y="14721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 클래스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69164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Box&lt;T&gt; { T item; } — 사용 시 Box&lt;String&gt;으로 타입 지정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011680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34440" y="19842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제네릭 메서드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203704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&lt;T&gt; T getFirst(T[] arr) — 리턴타입 앞에 &lt;T&gt; 선언, 타입 자동 추론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5237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34440" y="249631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타입 파라미터 관례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2715768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T(Type), E(Element), K(Key), V(Value), N(Number), ?(Wildcard)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3035808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035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34440" y="30083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타입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227832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&lt;T extends Number&gt; — T를 Number 하위로 제한. 상위 타입의 메서드 사용 가능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547872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34440" y="35204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와일드카드 (?)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34440" y="3739896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&lt;?&gt; 모든 타입, &lt;? extends T&gt; 상한, &lt;? super T&gt; 하한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31520" y="4059936"/>
            <a:ext cx="329184" cy="32918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0599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34440" y="40325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컬렉션 활용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34440" y="4251960"/>
            <a:ext cx="6949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ED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List&lt;E&gt;, Map&lt;K,V&gt;, Set&lt;E&gt; — 제네릭 덕분에 타입 안전한 컬렉션!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65A82">
              <a:alpha val="5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4663440"/>
            <a:ext cx="76809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한국IT교육센터 부산점  |  Java 제네릭 (Generics)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제네릭 (Generics)</dc:title>
  <dc:subject>PptxGenJS Presentation</dc:subject>
  <dc:creator>Korea IT Academy</dc:creator>
  <cp:lastModifiedBy>Korea IT Academy</cp:lastModifiedBy>
  <cp:revision>1</cp:revision>
  <dcterms:created xsi:type="dcterms:W3CDTF">2026-04-06T07:09:54Z</dcterms:created>
  <dcterms:modified xsi:type="dcterms:W3CDTF">2026-04-06T07:09:54Z</dcterms:modified>
</cp:coreProperties>
</file>